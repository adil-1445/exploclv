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4"/>
  </p:sldMasterIdLst>
  <p:notesMasterIdLst>
    <p:notesMasterId r:id="rId14"/>
  </p:notesMasterIdLst>
  <p:sldIdLst>
    <p:sldId id="256" r:id="rId5"/>
    <p:sldId id="272" r:id="rId6"/>
    <p:sldId id="273" r:id="rId7"/>
    <p:sldId id="257" r:id="rId8"/>
    <p:sldId id="259" r:id="rId9"/>
    <p:sldId id="258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C303"/>
    <a:srgbClr val="8ED246"/>
    <a:srgbClr val="795BA3"/>
    <a:srgbClr val="F60707"/>
    <a:srgbClr val="07B1F2"/>
    <a:srgbClr val="E85823"/>
    <a:srgbClr val="D41F26"/>
    <a:srgbClr val="66B741"/>
    <a:srgbClr val="D81F27"/>
    <a:srgbClr val="6F2B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45F75A-D509-4D55-88FD-C92FD29885FC}" v="16" dt="2025-08-11T19:10:10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176" autoAdjust="0"/>
  </p:normalViewPr>
  <p:slideViewPr>
    <p:cSldViewPr snapToGrid="0">
      <p:cViewPr varScale="1">
        <p:scale>
          <a:sx n="67" d="100"/>
          <a:sy n="67" d="100"/>
        </p:scale>
        <p:origin x="126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belle Langevin" userId="0184e03b-cd78-44fa-9f25-43061e4037b9" providerId="ADAL" clId="{9EFA1713-6D87-47A0-B57C-14BFE200EA31}"/>
    <pc:docChg chg="modSld">
      <pc:chgData name="Isabelle Langevin" userId="0184e03b-cd78-44fa-9f25-43061e4037b9" providerId="ADAL" clId="{9EFA1713-6D87-47A0-B57C-14BFE200EA31}" dt="2025-07-09T13:48:55.677" v="5" actId="14100"/>
      <pc:docMkLst>
        <pc:docMk/>
      </pc:docMkLst>
      <pc:sldChg chg="addSp modSp mod">
        <pc:chgData name="Isabelle Langevin" userId="0184e03b-cd78-44fa-9f25-43061e4037b9" providerId="ADAL" clId="{9EFA1713-6D87-47A0-B57C-14BFE200EA31}" dt="2025-07-09T13:48:55.677" v="5" actId="14100"/>
        <pc:sldMkLst>
          <pc:docMk/>
          <pc:sldMk cId="463625262" sldId="271"/>
        </pc:sldMkLst>
      </pc:sldChg>
    </pc:docChg>
  </pc:docChgLst>
  <pc:docChgLst>
    <pc:chgData name="Alexanne Provencher" userId="S::a-provencher-2@csspi.gouv.qc.ca::3145666d-77c1-4ed5-8175-9cc322cd5fee" providerId="AD" clId="Web-{A22B804E-4152-16E4-DD2F-C0393DF8B264}"/>
    <pc:docChg chg="addSld delSld modSld sldOrd">
      <pc:chgData name="Alexanne Provencher" userId="S::a-provencher-2@csspi.gouv.qc.ca::3145666d-77c1-4ed5-8175-9cc322cd5fee" providerId="AD" clId="Web-{A22B804E-4152-16E4-DD2F-C0393DF8B264}" dt="2025-07-09T13:52:01.789" v="55"/>
      <pc:docMkLst>
        <pc:docMk/>
      </pc:docMkLst>
      <pc:sldChg chg="delSp modSp del modNotes">
        <pc:chgData name="Alexanne Provencher" userId="S::a-provencher-2@csspi.gouv.qc.ca::3145666d-77c1-4ed5-8175-9cc322cd5fee" providerId="AD" clId="Web-{A22B804E-4152-16E4-DD2F-C0393DF8B264}" dt="2025-07-09T13:52:01.789" v="55"/>
        <pc:sldMkLst>
          <pc:docMk/>
          <pc:sldMk cId="2189494319" sldId="266"/>
        </pc:sldMkLst>
      </pc:sldChg>
      <pc:sldChg chg="del">
        <pc:chgData name="Alexanne Provencher" userId="S::a-provencher-2@csspi.gouv.qc.ca::3145666d-77c1-4ed5-8175-9cc322cd5fee" providerId="AD" clId="Web-{A22B804E-4152-16E4-DD2F-C0393DF8B264}" dt="2025-07-09T13:50:41.743" v="40"/>
        <pc:sldMkLst>
          <pc:docMk/>
          <pc:sldMk cId="1361284370" sldId="268"/>
        </pc:sldMkLst>
      </pc:sldChg>
      <pc:sldChg chg="del">
        <pc:chgData name="Alexanne Provencher" userId="S::a-provencher-2@csspi.gouv.qc.ca::3145666d-77c1-4ed5-8175-9cc322cd5fee" providerId="AD" clId="Web-{A22B804E-4152-16E4-DD2F-C0393DF8B264}" dt="2025-07-09T13:50:41.743" v="39"/>
        <pc:sldMkLst>
          <pc:docMk/>
          <pc:sldMk cId="130372550" sldId="269"/>
        </pc:sldMkLst>
      </pc:sldChg>
      <pc:sldChg chg="modSp new">
        <pc:chgData name="Alexanne Provencher" userId="S::a-provencher-2@csspi.gouv.qc.ca::3145666d-77c1-4ed5-8175-9cc322cd5fee" providerId="AD" clId="Web-{A22B804E-4152-16E4-DD2F-C0393DF8B264}" dt="2025-07-09T13:50:29.711" v="38" actId="20577"/>
        <pc:sldMkLst>
          <pc:docMk/>
          <pc:sldMk cId="3378829461" sldId="270"/>
        </pc:sldMkLst>
      </pc:sldChg>
      <pc:sldChg chg="addSp delSp modSp new">
        <pc:chgData name="Alexanne Provencher" userId="S::a-provencher-2@csspi.gouv.qc.ca::3145666d-77c1-4ed5-8175-9cc322cd5fee" providerId="AD" clId="Web-{A22B804E-4152-16E4-DD2F-C0393DF8B264}" dt="2025-07-09T13:48:10.821" v="18"/>
        <pc:sldMkLst>
          <pc:docMk/>
          <pc:sldMk cId="463625262" sldId="271"/>
        </pc:sldMkLst>
      </pc:sldChg>
      <pc:sldChg chg="addSp delSp modSp new ord">
        <pc:chgData name="Alexanne Provencher" userId="S::a-provencher-2@csspi.gouv.qc.ca::3145666d-77c1-4ed5-8175-9cc322cd5fee" providerId="AD" clId="Web-{A22B804E-4152-16E4-DD2F-C0393DF8B264}" dt="2025-07-09T13:51:27.227" v="54"/>
        <pc:sldMkLst>
          <pc:docMk/>
          <pc:sldMk cId="808315813" sldId="272"/>
        </pc:sldMkLst>
      </pc:sldChg>
    </pc:docChg>
  </pc:docChgLst>
  <pc:docChgLst>
    <pc:chgData name="Alexanne Provencher" userId="3145666d-77c1-4ed5-8175-9cc322cd5fee" providerId="ADAL" clId="{83C960C6-0318-46FE-900D-7EB7A8A520DE}"/>
    <pc:docChg chg="delSld modSld sldOrd">
      <pc:chgData name="Alexanne Provencher" userId="3145666d-77c1-4ed5-8175-9cc322cd5fee" providerId="ADAL" clId="{83C960C6-0318-46FE-900D-7EB7A8A520DE}" dt="2025-07-08T17:21:11.575" v="4" actId="2696"/>
      <pc:docMkLst>
        <pc:docMk/>
      </pc:docMkLst>
      <pc:sldChg chg="del">
        <pc:chgData name="Alexanne Provencher" userId="3145666d-77c1-4ed5-8175-9cc322cd5fee" providerId="ADAL" clId="{83C960C6-0318-46FE-900D-7EB7A8A520DE}" dt="2025-07-08T17:21:11.575" v="4" actId="2696"/>
        <pc:sldMkLst>
          <pc:docMk/>
          <pc:sldMk cId="413356134" sldId="263"/>
        </pc:sldMkLst>
      </pc:sldChg>
      <pc:sldChg chg="del">
        <pc:chgData name="Alexanne Provencher" userId="3145666d-77c1-4ed5-8175-9cc322cd5fee" providerId="ADAL" clId="{83C960C6-0318-46FE-900D-7EB7A8A520DE}" dt="2025-07-08T17:20:26.164" v="0" actId="2696"/>
        <pc:sldMkLst>
          <pc:docMk/>
          <pc:sldMk cId="2644087552" sldId="267"/>
        </pc:sldMkLst>
      </pc:sldChg>
      <pc:sldChg chg="del ord">
        <pc:chgData name="Alexanne Provencher" userId="3145666d-77c1-4ed5-8175-9cc322cd5fee" providerId="ADAL" clId="{83C960C6-0318-46FE-900D-7EB7A8A520DE}" dt="2025-07-08T17:21:08.266" v="3" actId="2696"/>
        <pc:sldMkLst>
          <pc:docMk/>
          <pc:sldMk cId="2016350572" sldId="270"/>
        </pc:sldMkLst>
      </pc:sldChg>
    </pc:docChg>
  </pc:docChgLst>
  <pc:docChgLst>
    <pc:chgData name="Alexanne Provencher" userId="3145666d-77c1-4ed5-8175-9cc322cd5fee" providerId="ADAL" clId="{FBF9F13B-6B4B-4626-BAB9-FC397705A54B}"/>
    <pc:docChg chg="undo custSel addSld modSld">
      <pc:chgData name="Alexanne Provencher" userId="3145666d-77c1-4ed5-8175-9cc322cd5fee" providerId="ADAL" clId="{FBF9F13B-6B4B-4626-BAB9-FC397705A54B}" dt="2024-11-21T14:41:39.296" v="78" actId="1076"/>
      <pc:docMkLst>
        <pc:docMk/>
      </pc:docMkLst>
      <pc:sldChg chg="addSp delSp modSp new mod setBg">
        <pc:chgData name="Alexanne Provencher" userId="3145666d-77c1-4ed5-8175-9cc322cd5fee" providerId="ADAL" clId="{FBF9F13B-6B4B-4626-BAB9-FC397705A54B}" dt="2024-11-21T14:41:39.296" v="78" actId="1076"/>
        <pc:sldMkLst>
          <pc:docMk/>
          <pc:sldMk cId="2016350572" sldId="270"/>
        </pc:sldMkLst>
      </pc:sldChg>
    </pc:docChg>
  </pc:docChgLst>
  <pc:docChgLst>
    <pc:chgData name="Alexanne Provencher" userId="3145666d-77c1-4ed5-8175-9cc322cd5fee" providerId="ADAL" clId="{7445F75A-D509-4D55-88FD-C92FD29885FC}"/>
    <pc:docChg chg="undo custSel addSld delSld modSld">
      <pc:chgData name="Alexanne Provencher" userId="3145666d-77c1-4ed5-8175-9cc322cd5fee" providerId="ADAL" clId="{7445F75A-D509-4D55-88FD-C92FD29885FC}" dt="2025-08-21T17:55:18.350" v="152" actId="20577"/>
      <pc:docMkLst>
        <pc:docMk/>
      </pc:docMkLst>
      <pc:sldChg chg="setBg">
        <pc:chgData name="Alexanne Provencher" userId="3145666d-77c1-4ed5-8175-9cc322cd5fee" providerId="ADAL" clId="{7445F75A-D509-4D55-88FD-C92FD29885FC}" dt="2025-08-11T19:09:41.720" v="140"/>
        <pc:sldMkLst>
          <pc:docMk/>
          <pc:sldMk cId="3007326536" sldId="257"/>
        </pc:sldMkLst>
      </pc:sldChg>
      <pc:sldChg chg="setBg">
        <pc:chgData name="Alexanne Provencher" userId="3145666d-77c1-4ed5-8175-9cc322cd5fee" providerId="ADAL" clId="{7445F75A-D509-4D55-88FD-C92FD29885FC}" dt="2025-08-11T19:09:59.341" v="143"/>
        <pc:sldMkLst>
          <pc:docMk/>
          <pc:sldMk cId="442325259" sldId="258"/>
        </pc:sldMkLst>
      </pc:sldChg>
      <pc:sldChg chg="setBg">
        <pc:chgData name="Alexanne Provencher" userId="3145666d-77c1-4ed5-8175-9cc322cd5fee" providerId="ADAL" clId="{7445F75A-D509-4D55-88FD-C92FD29885FC}" dt="2025-08-11T19:09:54.928" v="142"/>
        <pc:sldMkLst>
          <pc:docMk/>
          <pc:sldMk cId="828919300" sldId="259"/>
        </pc:sldMkLst>
      </pc:sldChg>
      <pc:sldChg chg="setBg">
        <pc:chgData name="Alexanne Provencher" userId="3145666d-77c1-4ed5-8175-9cc322cd5fee" providerId="ADAL" clId="{7445F75A-D509-4D55-88FD-C92FD29885FC}" dt="2025-08-11T19:10:05.892" v="144"/>
        <pc:sldMkLst>
          <pc:docMk/>
          <pc:sldMk cId="283496822" sldId="261"/>
        </pc:sldMkLst>
      </pc:sldChg>
      <pc:sldChg chg="setBg">
        <pc:chgData name="Alexanne Provencher" userId="3145666d-77c1-4ed5-8175-9cc322cd5fee" providerId="ADAL" clId="{7445F75A-D509-4D55-88FD-C92FD29885FC}" dt="2025-08-11T19:10:10.248" v="145"/>
        <pc:sldMkLst>
          <pc:docMk/>
          <pc:sldMk cId="1217099981" sldId="262"/>
        </pc:sldMkLst>
      </pc:sldChg>
      <pc:sldChg chg="del">
        <pc:chgData name="Alexanne Provencher" userId="3145666d-77c1-4ed5-8175-9cc322cd5fee" providerId="ADAL" clId="{7445F75A-D509-4D55-88FD-C92FD29885FC}" dt="2025-08-11T19:01:55.243" v="48" actId="2696"/>
        <pc:sldMkLst>
          <pc:docMk/>
          <pc:sldMk cId="3378829461" sldId="270"/>
        </pc:sldMkLst>
      </pc:sldChg>
      <pc:sldChg chg="del">
        <pc:chgData name="Alexanne Provencher" userId="3145666d-77c1-4ed5-8175-9cc322cd5fee" providerId="ADAL" clId="{7445F75A-D509-4D55-88FD-C92FD29885FC}" dt="2025-08-11T19:08:45.671" v="138" actId="2696"/>
        <pc:sldMkLst>
          <pc:docMk/>
          <pc:sldMk cId="463625262" sldId="271"/>
        </pc:sldMkLst>
      </pc:sldChg>
      <pc:sldChg chg="addSp delSp modSp mod">
        <pc:chgData name="Alexanne Provencher" userId="3145666d-77c1-4ed5-8175-9cc322cd5fee" providerId="ADAL" clId="{7445F75A-D509-4D55-88FD-C92FD29885FC}" dt="2025-08-11T19:01:39.092" v="47" actId="27636"/>
        <pc:sldMkLst>
          <pc:docMk/>
          <pc:sldMk cId="808315813" sldId="272"/>
        </pc:sldMkLst>
        <pc:spChg chg="add mod">
          <ac:chgData name="Alexanne Provencher" userId="3145666d-77c1-4ed5-8175-9cc322cd5fee" providerId="ADAL" clId="{7445F75A-D509-4D55-88FD-C92FD29885FC}" dt="2025-08-11T17:19:32.680" v="8" actId="255"/>
          <ac:spMkLst>
            <pc:docMk/>
            <pc:sldMk cId="808315813" sldId="272"/>
            <ac:spMk id="5" creationId="{9CF8E3AE-F2CC-D827-3928-BAE83E76B39A}"/>
          </ac:spMkLst>
        </pc:spChg>
        <pc:spChg chg="add mod">
          <ac:chgData name="Alexanne Provencher" userId="3145666d-77c1-4ed5-8175-9cc322cd5fee" providerId="ADAL" clId="{7445F75A-D509-4D55-88FD-C92FD29885FC}" dt="2025-08-11T17:19:32.680" v="8" actId="255"/>
          <ac:spMkLst>
            <pc:docMk/>
            <pc:sldMk cId="808315813" sldId="272"/>
            <ac:spMk id="6" creationId="{3EE1DA6F-714F-E20B-E5C6-2289DBE95308}"/>
          </ac:spMkLst>
        </pc:spChg>
        <pc:spChg chg="add mod">
          <ac:chgData name="Alexanne Provencher" userId="3145666d-77c1-4ed5-8175-9cc322cd5fee" providerId="ADAL" clId="{7445F75A-D509-4D55-88FD-C92FD29885FC}" dt="2025-08-11T17:19:32.680" v="8" actId="255"/>
          <ac:spMkLst>
            <pc:docMk/>
            <pc:sldMk cId="808315813" sldId="272"/>
            <ac:spMk id="7" creationId="{8BDD9FC2-F6F6-9744-AB27-2976DB153305}"/>
          </ac:spMkLst>
        </pc:spChg>
        <pc:spChg chg="add mod">
          <ac:chgData name="Alexanne Provencher" userId="3145666d-77c1-4ed5-8175-9cc322cd5fee" providerId="ADAL" clId="{7445F75A-D509-4D55-88FD-C92FD29885FC}" dt="2025-08-11T17:19:32.680" v="8" actId="255"/>
          <ac:spMkLst>
            <pc:docMk/>
            <pc:sldMk cId="808315813" sldId="272"/>
            <ac:spMk id="8" creationId="{1B9B6CDF-F477-3953-2AD2-0806C0604D96}"/>
          </ac:spMkLst>
        </pc:spChg>
        <pc:spChg chg="add mod">
          <ac:chgData name="Alexanne Provencher" userId="3145666d-77c1-4ed5-8175-9cc322cd5fee" providerId="ADAL" clId="{7445F75A-D509-4D55-88FD-C92FD29885FC}" dt="2025-08-11T17:19:32.680" v="8" actId="255"/>
          <ac:spMkLst>
            <pc:docMk/>
            <pc:sldMk cId="808315813" sldId="272"/>
            <ac:spMk id="9" creationId="{89A97DA8-ACF3-2449-B6EC-DC3EC8126C08}"/>
          </ac:spMkLst>
        </pc:spChg>
        <pc:spChg chg="add mod">
          <ac:chgData name="Alexanne Provencher" userId="3145666d-77c1-4ed5-8175-9cc322cd5fee" providerId="ADAL" clId="{7445F75A-D509-4D55-88FD-C92FD29885FC}" dt="2025-08-11T17:19:32.680" v="8" actId="255"/>
          <ac:spMkLst>
            <pc:docMk/>
            <pc:sldMk cId="808315813" sldId="272"/>
            <ac:spMk id="10" creationId="{3A71F63F-2D90-28FF-C2EF-A0FF80EFEC9F}"/>
          </ac:spMkLst>
        </pc:spChg>
        <pc:spChg chg="add mod">
          <ac:chgData name="Alexanne Provencher" userId="3145666d-77c1-4ed5-8175-9cc322cd5fee" providerId="ADAL" clId="{7445F75A-D509-4D55-88FD-C92FD29885FC}" dt="2025-08-11T19:00:09.599" v="17" actId="14100"/>
          <ac:spMkLst>
            <pc:docMk/>
            <pc:sldMk cId="808315813" sldId="272"/>
            <ac:spMk id="11" creationId="{5F641116-E53D-3203-CB7F-DFD856824FD1}"/>
          </ac:spMkLst>
        </pc:spChg>
        <pc:spChg chg="add mod">
          <ac:chgData name="Alexanne Provencher" userId="3145666d-77c1-4ed5-8175-9cc322cd5fee" providerId="ADAL" clId="{7445F75A-D509-4D55-88FD-C92FD29885FC}" dt="2025-08-11T19:01:39.092" v="47" actId="27636"/>
          <ac:spMkLst>
            <pc:docMk/>
            <pc:sldMk cId="808315813" sldId="272"/>
            <ac:spMk id="12" creationId="{6CB166E1-C755-1053-08A2-5E57615C6FDF}"/>
          </ac:spMkLst>
        </pc:spChg>
        <pc:grpChg chg="add mod">
          <ac:chgData name="Alexanne Provencher" userId="3145666d-77c1-4ed5-8175-9cc322cd5fee" providerId="ADAL" clId="{7445F75A-D509-4D55-88FD-C92FD29885FC}" dt="2025-08-11T18:59:34.299" v="10" actId="11530"/>
          <ac:grpSpMkLst>
            <pc:docMk/>
            <pc:sldMk cId="808315813" sldId="272"/>
            <ac:grpSpMk id="2" creationId="{32A16C96-BC98-3E5B-4F6E-61A3BE0822DD}"/>
          </ac:grpSpMkLst>
        </pc:grpChg>
        <pc:picChg chg="add mod modCrop">
          <ac:chgData name="Alexanne Provencher" userId="3145666d-77c1-4ed5-8175-9cc322cd5fee" providerId="ADAL" clId="{7445F75A-D509-4D55-88FD-C92FD29885FC}" dt="2025-08-11T18:59:46.329" v="14" actId="732"/>
          <ac:picMkLst>
            <pc:docMk/>
            <pc:sldMk cId="808315813" sldId="272"/>
            <ac:picMk id="3" creationId="{D78F01E2-20D7-D5E2-1B6F-72BB838BA845}"/>
          </ac:picMkLst>
        </pc:picChg>
      </pc:sldChg>
      <pc:sldChg chg="addSp delSp modSp add mod setBg">
        <pc:chgData name="Alexanne Provencher" userId="3145666d-77c1-4ed5-8175-9cc322cd5fee" providerId="ADAL" clId="{7445F75A-D509-4D55-88FD-C92FD29885FC}" dt="2025-08-21T17:55:18.350" v="152" actId="20577"/>
        <pc:sldMkLst>
          <pc:docMk/>
          <pc:sldMk cId="3018887480" sldId="273"/>
        </pc:sldMkLst>
        <pc:spChg chg="add mod">
          <ac:chgData name="Alexanne Provencher" userId="3145666d-77c1-4ed5-8175-9cc322cd5fee" providerId="ADAL" clId="{7445F75A-D509-4D55-88FD-C92FD29885FC}" dt="2025-08-21T17:55:18.350" v="152" actId="20577"/>
          <ac:spMkLst>
            <pc:docMk/>
            <pc:sldMk cId="3018887480" sldId="273"/>
            <ac:spMk id="13" creationId="{43CDFBAB-82FC-DF2D-995C-AD6D72E30B63}"/>
          </ac:spMkLst>
        </pc:spChg>
        <pc:spChg chg="add mod">
          <ac:chgData name="Alexanne Provencher" userId="3145666d-77c1-4ed5-8175-9cc322cd5fee" providerId="ADAL" clId="{7445F75A-D509-4D55-88FD-C92FD29885FC}" dt="2025-08-11T19:08:32.732" v="137" actId="1076"/>
          <ac:spMkLst>
            <pc:docMk/>
            <pc:sldMk cId="3018887480" sldId="273"/>
            <ac:spMk id="20" creationId="{BD3DC7ED-219B-EA7E-2DA0-12F00DE6F24A}"/>
          </ac:spMkLst>
        </pc:spChg>
        <pc:spChg chg="add mod">
          <ac:chgData name="Alexanne Provencher" userId="3145666d-77c1-4ed5-8175-9cc322cd5fee" providerId="ADAL" clId="{7445F75A-D509-4D55-88FD-C92FD29885FC}" dt="2025-08-11T19:08:17.401" v="131" actId="1076"/>
          <ac:spMkLst>
            <pc:docMk/>
            <pc:sldMk cId="3018887480" sldId="273"/>
            <ac:spMk id="21" creationId="{6BC682E0-4158-7C6F-5839-79AFFD6D9D3C}"/>
          </ac:spMkLst>
        </pc:spChg>
        <pc:grpChg chg="mod">
          <ac:chgData name="Alexanne Provencher" userId="3145666d-77c1-4ed5-8175-9cc322cd5fee" providerId="ADAL" clId="{7445F75A-D509-4D55-88FD-C92FD29885FC}" dt="2025-08-11T19:08:27.570" v="136" actId="1076"/>
          <ac:grpSpMkLst>
            <pc:docMk/>
            <pc:sldMk cId="3018887480" sldId="273"/>
            <ac:grpSpMk id="2" creationId="{E77ACC5B-47A7-6CC6-4F7C-7C47A58E6299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CBB83-DDC4-4614-AC17-2348C1F74158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A4981-94BE-4119-B48E-E423C822858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9886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2A4981-94BE-4119-B48E-E423C8228583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6071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r-FR" sz="12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ＭＳ Ｐゴシック"/>
                <a:sym typeface="Symbol"/>
              </a:rPr>
              <a:t>Aime manipuler les choses, possède surtout des aptitudes manuelles.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r-FR" sz="12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ＭＳ Ｐゴシック"/>
                <a:sym typeface="Symbol"/>
              </a:rPr>
              <a:t>Plutôt conformiste, ambitieux, pratique, maître de lui-même et conventionnel.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r-FR" sz="12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ＭＳ Ｐゴシック"/>
                <a:sym typeface="Symbol"/>
              </a:rPr>
              <a:t>Exige surtout des suggestions spécifiques lorsque vient le temps de le conseiller.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r-FR" sz="12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ＭＳ Ｐゴシック"/>
                <a:sym typeface="Symbol"/>
              </a:rPr>
              <a:t>N’exprime pas aisément ses émotions, préfère parler de ses activités.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Préfère des occupations très concrètes (menuisier) plutôt  solitaires qui ne nécessitent pas beaucoup d’interaction avec autrui.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Sa palette d’intérêts est relativement limitée. Il limite ses relations avec des individus qui partagent les mêmes valeurs, intérêts ou croyances.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Possède des valeurs traditionnelles et il préfère travailler à l’intérieur d’un cadre institutionnel.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Nourrit beaucoup d’ambition et il a un sens pratique des choses.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Son système de croyances et de valeurs est plutôt fermé.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Il se perçoit comme possédant des habiletés techniques. Il aime travailler ses mains, soit avec de l’équipement mécanique ou électronique.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Il est conscient de ses limites au plan des relations humaines et les tâches sociales sont vécues comme frustrantes. Il en est de même pour les tâches de nature intellectuelle.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Perception de soi qui est pauvre au plan de l’estime personnelle. Mais, il se sent compétent au plan de ses habiletés techniques.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Il utilise son système de croyances et ses habiletés pratiques pour solutionner les problèmes.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Il préfère les solutions concrètes, pratiques et ce, par opposition aux solutions ou stratégies de nature intellectuelle ou académique.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1200">
              <a:latin typeface="+mn-lt"/>
              <a:ea typeface="+mn-ea"/>
              <a:cs typeface="+mn-cs"/>
            </a:endParaRP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2A4981-94BE-4119-B48E-E423C8228583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7555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Goût pour la recherche sous ses diverses formes. 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Fuit toute activité à caractère répétitif. 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Préfère les contextes qui sollicitent son intelligence et exigent des réponses. 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Préfère décider par lui-même son orientation de carrière. 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Préfère des activités qui nécessitent de l’observation, de l’investigation systématique de phénomènes de nature biologique, culturelle médicale ou technique.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La démarche s’inscrit dans une visée de compréhension et de contrôle du phénomène.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Ce type s’investit très peu dans les activités sociales ou interpersonnelles.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Ses valeurs le portent vers des activités académiques où il peut expérimenter un sens d’autonomie et d’indépendance personnelle.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C’est un intellectuel qui aime la logique et qui peut être ambitieux. Son système de croyances est ouvert.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Par contre, la famille, la sécurité et l’amitié sont des valeurs moins importantes.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fr-FR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Conscient de ses habiletés intellectuelles. Il se voit comme une personne curieuse, analytique et aux intérêts multiples.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Il évite de chercher à persuader les autres, car il s’agit d’une activité frustrante.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Son estime personnelle est relativement élevée.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Il utilise ses habiletés intellectuelles et son sens de la recherche pour solutionner des problèmes au travail ou ailleurs.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Accorde de l’importance à la réflexion, la cueillette de l’information.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Tendance à négliger l’aspect émotionnel et social d’une situation donnée.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2A4981-94BE-4119-B48E-E423C8228583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22749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defRPr/>
            </a:pPr>
            <a:r>
              <a:rPr lang="fr-CA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+mn-ea"/>
                <a:sym typeface="Symbol"/>
              </a:rPr>
              <a:t>Aime les activités à caractère libre, non systématisé.</a:t>
            </a:r>
          </a:p>
          <a:p>
            <a:pPr algn="l">
              <a:defRPr/>
            </a:pPr>
            <a:r>
              <a:rPr lang="fr-CA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+mn-ea"/>
                <a:sym typeface="Symbol"/>
              </a:rPr>
              <a:t>Système de croyance ouvert et très peu rigide. </a:t>
            </a:r>
          </a:p>
          <a:p>
            <a:pPr algn="l">
              <a:defRPr/>
            </a:pPr>
            <a:r>
              <a:rPr lang="fr-CA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+mn-ea"/>
                <a:sym typeface="Symbol"/>
              </a:rPr>
              <a:t>Intuitif, impulsif et désordonné. </a:t>
            </a:r>
          </a:p>
          <a:p>
            <a:pPr algn="l">
              <a:defRPr/>
            </a:pPr>
            <a:r>
              <a:rPr lang="fr-CA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+mn-ea"/>
                <a:sym typeface="Symbol"/>
              </a:rPr>
              <a:t>N’aime pas être structuré dans la relation d’aide.</a:t>
            </a:r>
          </a:p>
          <a:p>
            <a:pPr algn="l">
              <a:defRPr/>
            </a:pPr>
            <a:r>
              <a:rPr lang="fr-CA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+mn-ea"/>
                <a:sym typeface="Symbol"/>
              </a:rPr>
              <a:t>Accorde une grande importance aux émotions dans son choix de carrière.</a:t>
            </a:r>
          </a:p>
          <a:p>
            <a:pPr algn="l">
              <a:defRPr/>
            </a:pPr>
            <a:endParaRPr lang="fr-CA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-112" charset="0"/>
              <a:ea typeface="+mn-ea"/>
              <a:sym typeface="Symbol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Préfère des activités artistiques et évite les activités de nature conventionnelle.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Aime socialiser avec des personnes aux valeurs et croyances similaires, évite les personnes qui ne les partagent pas.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Accorde une grande importance à l’esthétisme. Personnalité qui aime s’exprimer, qui est courageuse et imaginative.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Évite le conformisme, la servilité.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atin typeface="Times"/>
                <a:ea typeface="+mn-ea"/>
                <a:cs typeface="Times New Roman" pitchFamily="28" charset="0"/>
              </a:rPr>
              <a:t>Système de croyances qui est ouvert. Ouvert aux idées et aux sentiments d’autrui.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fr-FR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Se perçoit comme expressif, ouvert, original, intuitif, non conformiste, désordonné, introspectif.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Conscient de ses habiletés artistiques et créatives. Par contre, toute activité conventionnelle risque de le frustrer.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fr-FR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Perçoit les problèmes sous un angle artistique.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atin typeface="Times"/>
                <a:ea typeface="+mn-ea"/>
                <a:cs typeface="Times New Roman" pitchFamily="28" charset="0"/>
              </a:rPr>
              <a:t>Ses traits de personnalité dominent les habiletés utilisées pour la résolution de problème. C’est-à-dire, l’intuition, l’expression et l’originalité. </a:t>
            </a: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2A4981-94BE-4119-B48E-E423C8228583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99394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CA" altLang="fr-FR" sz="1200" b="1">
                <a:solidFill>
                  <a:schemeClr val="bg1"/>
                </a:solidFill>
              </a:rPr>
              <a:t>Aime le contact avec autrui selon une perspective curative ou éducative.</a:t>
            </a:r>
          </a:p>
          <a:p>
            <a:pPr algn="l"/>
            <a:r>
              <a:rPr lang="fr-CA" altLang="fr-FR" sz="1200" b="1">
                <a:solidFill>
                  <a:schemeClr val="bg1"/>
                </a:solidFill>
                <a:cs typeface="Times" panose="02020603050405020304" pitchFamily="18" charset="0"/>
              </a:rPr>
              <a:t>Aptitudes pour les relations. </a:t>
            </a:r>
          </a:p>
          <a:p>
            <a:pPr algn="l"/>
            <a:r>
              <a:rPr lang="fr-CA" altLang="fr-FR" sz="1200" b="1">
                <a:solidFill>
                  <a:schemeClr val="bg1"/>
                </a:solidFill>
              </a:rPr>
              <a:t>Évite les activités manuelles. </a:t>
            </a:r>
          </a:p>
          <a:p>
            <a:pPr algn="l"/>
            <a:r>
              <a:rPr lang="fr-CA" altLang="fr-FR" sz="1200" b="1">
                <a:solidFill>
                  <a:schemeClr val="bg1"/>
                </a:solidFill>
              </a:rPr>
              <a:t>Idéaliste, veut aider en s’engageant socialement ou politiquement.</a:t>
            </a:r>
          </a:p>
          <a:p>
            <a:pPr algn="l"/>
            <a:r>
              <a:rPr lang="fr-CA" altLang="fr-FR" sz="1200" b="1">
                <a:solidFill>
                  <a:schemeClr val="bg1"/>
                </a:solidFill>
              </a:rPr>
              <a:t>Tendance à beaucoup parler, peut devenir un défi pour le conseiller</a:t>
            </a:r>
          </a:p>
          <a:p>
            <a:pPr algn="l"/>
            <a:endParaRPr lang="fr-CA" sz="1200" b="1" kern="0">
              <a:solidFill>
                <a:schemeClr val="bg1"/>
              </a:solidFill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Préfère les occupations à caractère social.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Évite les activités de nature réaliste.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Peut s’associer avec des personnes aux valeurs et aux croyances similaires. </a:t>
            </a:r>
          </a:p>
          <a:p>
            <a:pPr algn="l"/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Aime servir les autres dans un contexte médical, institutionnel ou communautaire.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Cherche à aider et croit en l’égalité pour tous.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Ne valorise pas le monde des idées ou de la logique.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Accorde une importance aux valeurs spirituelles.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fr-CA" sz="1200" kern="0">
              <a:ln>
                <a:solidFill>
                  <a:srgbClr val="FFFFFF"/>
                </a:solidFill>
              </a:ln>
              <a:solidFill>
                <a:schemeClr val="bg1"/>
              </a:solidFill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Se perçoit comme aimant aider et comprendre les autres. Conscient de ses habiletés d’enseignant.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Évite les activités abstraites ou qui réclament une forme de patience et précision.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Système de croyances relativement ouvert. Estime personnelle modérément élevée. </a:t>
            </a:r>
          </a:p>
          <a:p>
            <a:pPr algn="l"/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Utilise ses compétences et habilités sociales pour résoudre les problèmes.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Perçoit les problématiques sous les angles humain et relationnel.</a:t>
            </a:r>
          </a:p>
          <a:p>
            <a:pPr algn="l"/>
            <a:endParaRPr lang="fr-CA" sz="1200" kern="0">
              <a:latin typeface="Times"/>
              <a:ea typeface="+mn-ea"/>
              <a:cs typeface="Times New Roman" pitchFamily="2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2A4981-94BE-4119-B48E-E423C8228583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16697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Symbol" pitchFamily="18" charset="2"/>
              <a:buNone/>
              <a:defRPr/>
            </a:pPr>
            <a:r>
              <a:rPr lang="fr-FR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+mn-ea"/>
                <a:sym typeface="Symbol"/>
              </a:rPr>
              <a:t>Aime travailler avec les autres en vue d’organiser et de diriger.</a:t>
            </a:r>
          </a:p>
          <a:p>
            <a:pPr algn="l">
              <a:defRPr/>
            </a:pPr>
            <a:r>
              <a:rPr lang="fr-FR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+mn-ea"/>
                <a:sym typeface="Symbol"/>
              </a:rPr>
              <a:t>Aime la réussite au plan économique et politique. </a:t>
            </a:r>
          </a:p>
          <a:p>
            <a:pPr algn="l">
              <a:defRPr/>
            </a:pPr>
            <a:r>
              <a:rPr lang="fr-FR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+mn-ea"/>
                <a:sym typeface="Symbol"/>
              </a:rPr>
              <a:t>Personne énergique, extravertie, exhibitionniste et optimiste. </a:t>
            </a:r>
          </a:p>
          <a:p>
            <a:pPr algn="l">
              <a:defRPr/>
            </a:pPr>
            <a:r>
              <a:rPr lang="fr-FR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+mn-ea"/>
                <a:sym typeface="Symbol"/>
              </a:rPr>
              <a:t>Ce type de personne cherche à la fois le pouvoir et l’argent. </a:t>
            </a:r>
          </a:p>
          <a:p>
            <a:pPr algn="l">
              <a:defRPr/>
            </a:pPr>
            <a:r>
              <a:rPr lang="fr-FR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-112" charset="0"/>
                <a:ea typeface="+mn-ea"/>
                <a:sym typeface="Symbol"/>
              </a:rPr>
              <a:t>Peut manifester de l’impatience dans le processus de cheminement de carrière.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n>
                <a:solidFill>
                  <a:srgbClr val="FFFFFF"/>
                </a:solidFill>
              </a:ln>
              <a:solidFill>
                <a:schemeClr val="bg1"/>
              </a:solidFill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Préfère des activités qui mettent à profit ses intérêts pour les affaires.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Aime entreprendre et développer au plan des affaires.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Il évite les activités qui réclament le sens de la recherche ou de l’investigation. Aime se retrouver avec les personnes qui partagent les mêmes croyances ou valeurs.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fr-FR" sz="1200" kern="0">
              <a:ln>
                <a:solidFill>
                  <a:srgbClr val="FFFFFF"/>
                </a:solidFill>
              </a:ln>
              <a:solidFill>
                <a:srgbClr val="FFFFFF"/>
              </a:solidFill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Son système de valeurs et de croyances est traditionnel.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Cherche à devenir un leader et à diriger les autres.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Il est très ambitieux.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Accorde de l’importance à son apparence et vise à monter dans l’échelle sociale.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Se perçoit comme agressif, populaire, possédant des bonnes habiletés sociales. Mais, conscient d’être peu porté sur les activités intellectuelles ou de nature abstraite.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Possède une haute estime personnelle et vit de la frustration lorsque son influence est limité.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Son système de croyances est plutôt fermé.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Il situe les problématiques en fonction des jeux d’influence.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FR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Ses traits pour les affaires et la compétition dominent son style de résolution de problème. </a:t>
            </a:r>
            <a:endParaRPr lang="en-CA" sz="1200" kern="0">
              <a:ln>
                <a:solidFill>
                  <a:srgbClr val="FFFFFF"/>
                </a:solidFill>
              </a:ln>
              <a:solidFill>
                <a:srgbClr val="FFFFFF"/>
              </a:solidFill>
              <a:latin typeface="Times"/>
              <a:ea typeface="+mn-ea"/>
              <a:cs typeface="Times New Roman" pitchFamily="28" charset="0"/>
            </a:endParaRP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2A4981-94BE-4119-B48E-E423C8228583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8824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altLang="fr-FR" sz="1200" b="1">
                <a:solidFill>
                  <a:schemeClr val="bg1"/>
                </a:solidFill>
              </a:rPr>
              <a:t>Préfère manipuler des données d’une manière systématique.</a:t>
            </a:r>
          </a:p>
          <a:p>
            <a:pPr algn="l"/>
            <a:r>
              <a:rPr lang="fr-FR" altLang="fr-FR" sz="1200" b="1">
                <a:solidFill>
                  <a:schemeClr val="bg1"/>
                </a:solidFill>
              </a:rPr>
              <a:t>Aime les activités qui sont bien définies, sens de l’initiative limité.</a:t>
            </a:r>
          </a:p>
          <a:p>
            <a:pPr algn="l"/>
            <a:r>
              <a:rPr lang="fr-FR" altLang="fr-FR" sz="1200" b="1">
                <a:solidFill>
                  <a:schemeClr val="bg1"/>
                </a:solidFill>
              </a:rPr>
              <a:t>Personne conservatrice, inhibée, pratique et persévérante (type comptable).</a:t>
            </a:r>
          </a:p>
          <a:p>
            <a:pPr algn="l"/>
            <a:r>
              <a:rPr lang="fr-FR" altLang="fr-FR" sz="1200" b="1">
                <a:solidFill>
                  <a:schemeClr val="bg1"/>
                </a:solidFill>
              </a:rPr>
              <a:t>Personne organisée mais très dépendante par aux autres.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Il préfère les activités de nature conventionnelle comme la comptabilité, les finances ou l’administration.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Il évite toute activité de nature artistique.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Aime se retrouver avec des personnes similaires, mais évite les personnes différentes.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Accorde beaucoup d’importance aux valeurs traditionnelles. Cherche à mener une vie confortable.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Valorise le succès financier et la réussite en affaires.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Aime le milieu institutionnel. Accorde peu d’importance à l’imagination.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Système de croyances qui est très fermé.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Se perçoit comme ordonné et conformiste. 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Conscient de ses compétences en administration et de son déficit artistique.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Times"/>
                <a:ea typeface="+mn-ea"/>
                <a:cs typeface="Times New Roman" pitchFamily="28" charset="0"/>
              </a:rPr>
              <a:t>Estime de soi peu élevée.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fr-CA" sz="1200" kern="0">
              <a:ln>
                <a:solidFill>
                  <a:srgbClr val="FFFFFF"/>
                </a:solidFill>
              </a:ln>
              <a:solidFill>
                <a:srgbClr val="FFFFFF"/>
              </a:solidFill>
              <a:latin typeface="Times"/>
              <a:ea typeface="+mn-ea"/>
              <a:cs typeface="Times New Roman" pitchFamily="28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Utilise ses compétences pour résoudre des problématiques reliées à son milieu de travail.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Il se conforme aux règles et procédures qui sont en vigueur. Vise à élaborer des solutions pratiques selon une stratégie ordonnée.</a:t>
            </a: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fr-CA" sz="1200" kern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Times"/>
                <a:ea typeface="+mn-ea"/>
                <a:cs typeface="Times New Roman" pitchFamily="28" charset="0"/>
              </a:rPr>
              <a:t>Fait confiance à l’autorité et cherche son avis. </a:t>
            </a:r>
          </a:p>
          <a:p>
            <a:pPr marL="0" indent="0" algn="l">
              <a:spcBef>
                <a:spcPct val="20000"/>
              </a:spcBef>
              <a:buFont typeface="Wingdings" pitchFamily="2" charset="2"/>
              <a:buNone/>
              <a:defRPr/>
            </a:pPr>
            <a:endParaRPr lang="fr-CA" sz="1200" kern="0">
              <a:latin typeface="Times"/>
              <a:ea typeface="+mn-ea"/>
              <a:cs typeface="Times New Roman" pitchFamily="2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2A4981-94BE-4119-B48E-E423C8228583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59579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Modifier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30537E0-2BF7-40A1-91BC-0CBA54C83AE6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DB3060F-B2F2-457D-997B-C81F7DB9E5CE}" type="slidenum">
              <a:rPr lang="fr-CA" smtClean="0"/>
              <a:t>‹n°›</a:t>
            </a:fld>
            <a:endParaRPr lang="fr-CA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11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37E0-2BF7-40A1-91BC-0CBA54C83AE6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060F-B2F2-457D-997B-C81F7DB9E5C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7937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37E0-2BF7-40A1-91BC-0CBA54C83AE6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060F-B2F2-457D-997B-C81F7DB9E5CE}" type="slidenum">
              <a:rPr lang="fr-CA" smtClean="0"/>
              <a:t>‹n°›</a:t>
            </a:fld>
            <a:endParaRPr lang="fr-CA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42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37E0-2BF7-40A1-91BC-0CBA54C83AE6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060F-B2F2-457D-997B-C81F7DB9E5C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23072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37E0-2BF7-40A1-91BC-0CBA54C83AE6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060F-B2F2-457D-997B-C81F7DB9E5C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42101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37E0-2BF7-40A1-91BC-0CBA54C83AE6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060F-B2F2-457D-997B-C81F7DB9E5C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71444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37E0-2BF7-40A1-91BC-0CBA54C83AE6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060F-B2F2-457D-997B-C81F7DB9E5C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44710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37E0-2BF7-40A1-91BC-0CBA54C83AE6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060F-B2F2-457D-997B-C81F7DB9E5C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719277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37E0-2BF7-40A1-91BC-0CBA54C83AE6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060F-B2F2-457D-997B-C81F7DB9E5C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50539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37E0-2BF7-40A1-91BC-0CBA54C83AE6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060F-B2F2-457D-997B-C81F7DB9E5C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6532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37E0-2BF7-40A1-91BC-0CBA54C83AE6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060F-B2F2-457D-997B-C81F7DB9E5C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996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30537E0-2BF7-40A1-91BC-0CBA54C83AE6}" type="datetimeFigureOut">
              <a:rPr lang="fr-CA" smtClean="0"/>
              <a:t>2025-08-21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ADB3060F-B2F2-457D-997B-C81F7DB9E5C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976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b51062fdee7fdefff60940f2f941ac223d9cc45fb7ef44beabbbec2c76537d00JmltdHM9MTc1MjAxOTIwMA&amp;ptn=3&amp;ver=2&amp;hsh=4&amp;fclid=3cf2a1ac-7ad3-6fe9-0f59-b4b57ed364d2&amp;psq=typologie+holland&amp;u=a1aHR0cHM6Ly9ub3NwZW5zZWVzLmZyL2xlLW1vZGVsZS10eXBvbG9naXF1ZS1kZS1ob2xsYW5kLXF1ZWwtdHJhdmFpbC1jb3JyZXNwb25kLWEtdm90cmUtcGVyc29ubmFsaXRlLw&amp;ntb=1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/>
              <a:t>RIASEC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A"/>
              <a:t>Définition des types de personnalités au travail</a:t>
            </a:r>
          </a:p>
          <a:p>
            <a:r>
              <a:rPr lang="fr-CA"/>
              <a:t>Typologie de Holland</a:t>
            </a:r>
          </a:p>
        </p:txBody>
      </p:sp>
    </p:spTree>
    <p:extLst>
      <p:ext uri="{BB962C8B-B14F-4D97-AF65-F5344CB8AC3E}">
        <p14:creationId xmlns:p14="http://schemas.microsoft.com/office/powerpoint/2010/main" val="317891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32A16C96-BC98-3E5B-4F6E-61A3BE0822DD}"/>
              </a:ext>
            </a:extLst>
          </p:cNvPr>
          <p:cNvGrpSpPr/>
          <p:nvPr/>
        </p:nvGrpSpPr>
        <p:grpSpPr>
          <a:xfrm>
            <a:off x="449943" y="335280"/>
            <a:ext cx="5820231" cy="6187440"/>
            <a:chOff x="1202677" y="0"/>
            <a:chExt cx="3104272" cy="3300095"/>
          </a:xfrm>
        </p:grpSpPr>
        <p:pic>
          <p:nvPicPr>
            <p:cNvPr id="3" name="Image 2" descr="Page d'accueil AFC Holland - Test AFC Holland (RIASEC)">
              <a:extLst>
                <a:ext uri="{FF2B5EF4-FFF2-40B4-BE49-F238E27FC236}">
                  <a16:creationId xmlns:a16="http://schemas.microsoft.com/office/drawing/2014/main" id="{D78F01E2-20D7-D5E2-1B6F-72BB838BA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921" r="21498"/>
            <a:stretch>
              <a:fillRect/>
            </a:stretch>
          </p:blipFill>
          <p:spPr bwMode="auto">
            <a:xfrm>
              <a:off x="1202677" y="0"/>
              <a:ext cx="3104272" cy="33000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Zone de texte 3">
              <a:extLst>
                <a:ext uri="{FF2B5EF4-FFF2-40B4-BE49-F238E27FC236}">
                  <a16:creationId xmlns:a16="http://schemas.microsoft.com/office/drawing/2014/main" id="{9CF8E3AE-F2CC-D827-3928-BAE83E76B39A}"/>
                </a:ext>
              </a:extLst>
            </p:cNvPr>
            <p:cNvSpPr txBox="1"/>
            <p:nvPr/>
          </p:nvSpPr>
          <p:spPr>
            <a:xfrm>
              <a:off x="2269028" y="371619"/>
              <a:ext cx="1375117" cy="35085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fr-CA" sz="2200" dirty="0">
                  <a:solidFill>
                    <a:srgbClr val="FFFFFF"/>
                  </a:solidFill>
                  <a:effectLst/>
                  <a:latin typeface="Segoe UI Semibold" panose="020B0702040204020203" pitchFamily="34" charset="0"/>
                  <a:ea typeface="MS Mincho" panose="02020609040205080304" pitchFamily="49" charset="-128"/>
                  <a:cs typeface="Arial" panose="020B0604020202020204" pitchFamily="34" charset="0"/>
                </a:rPr>
                <a:t>Investigateur</a:t>
              </a:r>
              <a:endParaRPr lang="fr-CA" sz="22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6" name="Zone de texte 4">
              <a:extLst>
                <a:ext uri="{FF2B5EF4-FFF2-40B4-BE49-F238E27FC236}">
                  <a16:creationId xmlns:a16="http://schemas.microsoft.com/office/drawing/2014/main" id="{3EE1DA6F-714F-E20B-E5C6-2289DBE95308}"/>
                </a:ext>
              </a:extLst>
            </p:cNvPr>
            <p:cNvSpPr txBox="1"/>
            <p:nvPr/>
          </p:nvSpPr>
          <p:spPr>
            <a:xfrm rot="3623785">
              <a:off x="3244012" y="1015582"/>
              <a:ext cx="992634" cy="35085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fr-CA" sz="2200">
                  <a:solidFill>
                    <a:srgbClr val="FFFFFF"/>
                  </a:solidFill>
                  <a:effectLst/>
                  <a:latin typeface="Segoe UI Semibold" panose="020B0702040204020203" pitchFamily="34" charset="0"/>
                  <a:ea typeface="MS Mincho" panose="02020609040205080304" pitchFamily="49" charset="-128"/>
                  <a:cs typeface="Arial" panose="020B0604020202020204" pitchFamily="34" charset="0"/>
                </a:rPr>
                <a:t>Artistique</a:t>
              </a:r>
              <a:endParaRPr lang="fr-CA" sz="2200"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7" name="Zone de texte 5">
              <a:extLst>
                <a:ext uri="{FF2B5EF4-FFF2-40B4-BE49-F238E27FC236}">
                  <a16:creationId xmlns:a16="http://schemas.microsoft.com/office/drawing/2014/main" id="{8BDD9FC2-F6F6-9744-AB27-2976DB153305}"/>
                </a:ext>
              </a:extLst>
            </p:cNvPr>
            <p:cNvSpPr txBox="1"/>
            <p:nvPr/>
          </p:nvSpPr>
          <p:spPr>
            <a:xfrm rot="17999194">
              <a:off x="3347845" y="1766214"/>
              <a:ext cx="992505" cy="3505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fr-CA" sz="2200">
                  <a:solidFill>
                    <a:srgbClr val="FFFFFF"/>
                  </a:solidFill>
                  <a:effectLst/>
                  <a:latin typeface="Segoe UI Semibold" panose="020B0702040204020203" pitchFamily="34" charset="0"/>
                  <a:ea typeface="MS Mincho" panose="02020609040205080304" pitchFamily="49" charset="-128"/>
                  <a:cs typeface="Arial" panose="020B0604020202020204" pitchFamily="34" charset="0"/>
                </a:rPr>
                <a:t>Social</a:t>
              </a:r>
              <a:endParaRPr lang="fr-CA" sz="2200"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8" name="Zone de texte 6">
              <a:extLst>
                <a:ext uri="{FF2B5EF4-FFF2-40B4-BE49-F238E27FC236}">
                  <a16:creationId xmlns:a16="http://schemas.microsoft.com/office/drawing/2014/main" id="{1B9B6CDF-F477-3953-2AD2-0806C0604D96}"/>
                </a:ext>
              </a:extLst>
            </p:cNvPr>
            <p:cNvSpPr txBox="1"/>
            <p:nvPr/>
          </p:nvSpPr>
          <p:spPr>
            <a:xfrm>
              <a:off x="2279436" y="2526653"/>
              <a:ext cx="1429758" cy="35085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fr-CA" sz="2200">
                  <a:solidFill>
                    <a:srgbClr val="FFFFFF"/>
                  </a:solidFill>
                  <a:effectLst/>
                  <a:latin typeface="Segoe UI Semibold" panose="020B0702040204020203" pitchFamily="34" charset="0"/>
                  <a:ea typeface="MS Mincho" panose="02020609040205080304" pitchFamily="49" charset="-128"/>
                  <a:cs typeface="Arial" panose="020B0604020202020204" pitchFamily="34" charset="0"/>
                </a:rPr>
                <a:t>Entreprenant</a:t>
              </a:r>
              <a:endParaRPr lang="fr-CA" sz="2200"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9" name="Zone de texte 7">
              <a:extLst>
                <a:ext uri="{FF2B5EF4-FFF2-40B4-BE49-F238E27FC236}">
                  <a16:creationId xmlns:a16="http://schemas.microsoft.com/office/drawing/2014/main" id="{89A97DA8-ACF3-2449-B6EC-DC3EC8126C08}"/>
                </a:ext>
              </a:extLst>
            </p:cNvPr>
            <p:cNvSpPr txBox="1"/>
            <p:nvPr/>
          </p:nvSpPr>
          <p:spPr>
            <a:xfrm rot="3621423">
              <a:off x="1154394" y="2189202"/>
              <a:ext cx="1575466" cy="35085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fr-CA" sz="2200">
                  <a:solidFill>
                    <a:srgbClr val="FFFFFF"/>
                  </a:solidFill>
                  <a:effectLst/>
                  <a:latin typeface="Segoe UI Semibold" panose="020B0702040204020203" pitchFamily="34" charset="0"/>
                  <a:ea typeface="MS Mincho" panose="02020609040205080304" pitchFamily="49" charset="-128"/>
                  <a:cs typeface="Arial" panose="020B0604020202020204" pitchFamily="34" charset="0"/>
                </a:rPr>
                <a:t>Conventionnel</a:t>
              </a:r>
              <a:endParaRPr lang="fr-CA" sz="2200"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10" name="Zone de texte 2">
              <a:extLst>
                <a:ext uri="{FF2B5EF4-FFF2-40B4-BE49-F238E27FC236}">
                  <a16:creationId xmlns:a16="http://schemas.microsoft.com/office/drawing/2014/main" id="{3A71F63F-2D90-28FF-C2EF-A0FF80EFEC9F}"/>
                </a:ext>
              </a:extLst>
            </p:cNvPr>
            <p:cNvSpPr txBox="1"/>
            <p:nvPr/>
          </p:nvSpPr>
          <p:spPr>
            <a:xfrm rot="17973899">
              <a:off x="1467196" y="767136"/>
              <a:ext cx="992634" cy="35085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fr-CA" sz="2200">
                  <a:solidFill>
                    <a:srgbClr val="FFFFFF"/>
                  </a:solidFill>
                  <a:effectLst/>
                  <a:latin typeface="Segoe UI Semibold" panose="020B0702040204020203" pitchFamily="34" charset="0"/>
                  <a:ea typeface="MS Mincho" panose="02020609040205080304" pitchFamily="49" charset="-128"/>
                  <a:cs typeface="Arial" panose="020B0604020202020204" pitchFamily="34" charset="0"/>
                </a:rPr>
                <a:t>Réaliste</a:t>
              </a:r>
              <a:endParaRPr lang="fr-CA" sz="2200"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</p:grpSp>
      <p:sp>
        <p:nvSpPr>
          <p:cNvPr id="11" name="Titre 1">
            <a:extLst>
              <a:ext uri="{FF2B5EF4-FFF2-40B4-BE49-F238E27FC236}">
                <a16:creationId xmlns:a16="http://schemas.microsoft.com/office/drawing/2014/main" id="{5F641116-E53D-3203-CB7F-DFD85682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28" y="609600"/>
            <a:ext cx="4487091" cy="1356360"/>
          </a:xfrm>
        </p:spPr>
        <p:txBody>
          <a:bodyPr/>
          <a:lstStyle/>
          <a:p>
            <a:pPr algn="r"/>
            <a:r>
              <a:rPr lang="fr-CA" dirty="0"/>
              <a:t>Typologie Holland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CB166E1-C755-1053-08A2-5E57615C6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3876" y="1870890"/>
            <a:ext cx="5108181" cy="437750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45720" indent="0">
              <a:lnSpc>
                <a:spcPct val="150000"/>
              </a:lnSpc>
              <a:buNone/>
            </a:pPr>
            <a:r>
              <a:rPr lang="fr-CA" sz="1800" dirty="0">
                <a:latin typeface="+mj-lt"/>
                <a:ea typeface="Roboto"/>
                <a:cs typeface="Roboto"/>
                <a:hlinkClick r:id="rId3"/>
              </a:rPr>
              <a:t>La </a:t>
            </a:r>
            <a:r>
              <a:rPr lang="fr-CA" sz="1800" b="1" dirty="0">
                <a:latin typeface="+mj-lt"/>
                <a:ea typeface="Roboto"/>
                <a:cs typeface="Roboto"/>
                <a:hlinkClick r:id="rId3"/>
              </a:rPr>
              <a:t>typologie de Holland</a:t>
            </a:r>
            <a:r>
              <a:rPr lang="fr-CA" sz="1800" dirty="0">
                <a:latin typeface="+mj-lt"/>
                <a:ea typeface="Roboto"/>
                <a:cs typeface="Roboto"/>
                <a:hlinkClick r:id="rId3"/>
              </a:rPr>
              <a:t> est un modèle hexagonal qui décrit </a:t>
            </a:r>
            <a:r>
              <a:rPr lang="fr-CA" sz="1800" b="1" dirty="0">
                <a:latin typeface="+mj-lt"/>
                <a:ea typeface="Roboto"/>
                <a:cs typeface="Roboto"/>
                <a:hlinkClick r:id="rId3"/>
              </a:rPr>
              <a:t>six types de personnalité</a:t>
            </a:r>
            <a:r>
              <a:rPr lang="fr-CA" sz="1800" dirty="0">
                <a:latin typeface="+mj-lt"/>
                <a:ea typeface="Roboto"/>
                <a:cs typeface="Roboto"/>
                <a:hlinkClick r:id="rId3"/>
              </a:rPr>
              <a:t> correspondant à six environnements professionnels. </a:t>
            </a:r>
            <a:br>
              <a:rPr lang="fr-CA" sz="1800" dirty="0">
                <a:latin typeface="+mj-lt"/>
                <a:ea typeface="Roboto"/>
                <a:cs typeface="Roboto"/>
                <a:hlinkClick r:id="rId3"/>
              </a:rPr>
            </a:br>
            <a:r>
              <a:rPr lang="fr-CA" sz="1800" dirty="0">
                <a:latin typeface="+mj-lt"/>
                <a:ea typeface="Roboto"/>
                <a:cs typeface="Roboto"/>
                <a:hlinkClick r:id="rId3"/>
              </a:rPr>
              <a:t>Ces types sont : </a:t>
            </a:r>
            <a:r>
              <a:rPr lang="fr-CA" sz="1800" b="1" dirty="0">
                <a:latin typeface="+mj-lt"/>
                <a:ea typeface="Roboto"/>
                <a:cs typeface="Roboto"/>
                <a:hlinkClick r:id="rId3"/>
              </a:rPr>
              <a:t>Réaliste, Investigateur, Artistique, Social, Entreprenant, et Conventionnel</a:t>
            </a:r>
            <a:r>
              <a:rPr lang="fr-CA" sz="1800" dirty="0">
                <a:latin typeface="+mj-lt"/>
                <a:ea typeface="Roboto"/>
                <a:cs typeface="Roboto"/>
                <a:hlinkClick r:id="rId3"/>
              </a:rPr>
              <a:t>. Ce modèle est utilisé pour aider à l'orientation professionnelle en identifiant les professions qui conviennent le mieux à la personnalité d'un individu. La théorie de Holland propose de déterminer les trois types dominants d'une personne pour mieux orienter ses choix de carrière. </a:t>
            </a:r>
            <a:endParaRPr lang="fr-CA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fr-CA" sz="2400" dirty="0">
              <a:solidFill>
                <a:srgbClr val="1CADE4"/>
              </a:solidFill>
              <a:latin typeface="Corbel" panose="020B0503020204020204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0831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B1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5DF1A-BC19-E0A5-2EDC-D5C0A8CC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E77ACC5B-47A7-6CC6-4F7C-7C47A58E6299}"/>
              </a:ext>
            </a:extLst>
          </p:cNvPr>
          <p:cNvGrpSpPr/>
          <p:nvPr/>
        </p:nvGrpSpPr>
        <p:grpSpPr>
          <a:xfrm>
            <a:off x="449943" y="335280"/>
            <a:ext cx="5820231" cy="6187440"/>
            <a:chOff x="1202677" y="0"/>
            <a:chExt cx="3104272" cy="3300095"/>
          </a:xfrm>
        </p:grpSpPr>
        <p:pic>
          <p:nvPicPr>
            <p:cNvPr id="3" name="Image 2" descr="Page d'accueil AFC Holland - Test AFC Holland (RIASEC)">
              <a:extLst>
                <a:ext uri="{FF2B5EF4-FFF2-40B4-BE49-F238E27FC236}">
                  <a16:creationId xmlns:a16="http://schemas.microsoft.com/office/drawing/2014/main" id="{A585F486-D8F4-4DEB-9BA8-5785837AD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921" r="21498"/>
            <a:stretch>
              <a:fillRect/>
            </a:stretch>
          </p:blipFill>
          <p:spPr bwMode="auto">
            <a:xfrm>
              <a:off x="1202677" y="0"/>
              <a:ext cx="3104272" cy="33000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Zone de texte 3">
              <a:extLst>
                <a:ext uri="{FF2B5EF4-FFF2-40B4-BE49-F238E27FC236}">
                  <a16:creationId xmlns:a16="http://schemas.microsoft.com/office/drawing/2014/main" id="{F6D576BE-3A49-10A4-C1B7-05B8DB39559C}"/>
                </a:ext>
              </a:extLst>
            </p:cNvPr>
            <p:cNvSpPr txBox="1"/>
            <p:nvPr/>
          </p:nvSpPr>
          <p:spPr>
            <a:xfrm>
              <a:off x="2269028" y="371619"/>
              <a:ext cx="1375117" cy="35085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fr-CA" sz="2200">
                  <a:solidFill>
                    <a:srgbClr val="FFFFFF"/>
                  </a:solidFill>
                  <a:effectLst/>
                  <a:latin typeface="Segoe UI Semibold" panose="020B0702040204020203" pitchFamily="34" charset="0"/>
                  <a:ea typeface="MS Mincho" panose="02020609040205080304" pitchFamily="49" charset="-128"/>
                  <a:cs typeface="Arial" panose="020B0604020202020204" pitchFamily="34" charset="0"/>
                </a:rPr>
                <a:t>Investigateur</a:t>
              </a:r>
              <a:endParaRPr lang="fr-CA" sz="2200"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6" name="Zone de texte 4">
              <a:extLst>
                <a:ext uri="{FF2B5EF4-FFF2-40B4-BE49-F238E27FC236}">
                  <a16:creationId xmlns:a16="http://schemas.microsoft.com/office/drawing/2014/main" id="{68FA10D6-137B-4979-9864-2D73647D1D05}"/>
                </a:ext>
              </a:extLst>
            </p:cNvPr>
            <p:cNvSpPr txBox="1"/>
            <p:nvPr/>
          </p:nvSpPr>
          <p:spPr>
            <a:xfrm rot="3623785">
              <a:off x="3244012" y="1015582"/>
              <a:ext cx="992634" cy="35085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fr-CA" sz="2200">
                  <a:solidFill>
                    <a:srgbClr val="FFFFFF"/>
                  </a:solidFill>
                  <a:effectLst/>
                  <a:latin typeface="Segoe UI Semibold" panose="020B0702040204020203" pitchFamily="34" charset="0"/>
                  <a:ea typeface="MS Mincho" panose="02020609040205080304" pitchFamily="49" charset="-128"/>
                  <a:cs typeface="Arial" panose="020B0604020202020204" pitchFamily="34" charset="0"/>
                </a:rPr>
                <a:t>Artistique</a:t>
              </a:r>
              <a:endParaRPr lang="fr-CA" sz="2200"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7" name="Zone de texte 5">
              <a:extLst>
                <a:ext uri="{FF2B5EF4-FFF2-40B4-BE49-F238E27FC236}">
                  <a16:creationId xmlns:a16="http://schemas.microsoft.com/office/drawing/2014/main" id="{02F843BE-DC89-C7A0-D6AA-34C3D6D3C8C3}"/>
                </a:ext>
              </a:extLst>
            </p:cNvPr>
            <p:cNvSpPr txBox="1"/>
            <p:nvPr/>
          </p:nvSpPr>
          <p:spPr>
            <a:xfrm rot="17999194">
              <a:off x="3347845" y="1766214"/>
              <a:ext cx="992505" cy="3505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fr-CA" sz="2200">
                  <a:solidFill>
                    <a:srgbClr val="FFFFFF"/>
                  </a:solidFill>
                  <a:effectLst/>
                  <a:latin typeface="Segoe UI Semibold" panose="020B0702040204020203" pitchFamily="34" charset="0"/>
                  <a:ea typeface="MS Mincho" panose="02020609040205080304" pitchFamily="49" charset="-128"/>
                  <a:cs typeface="Arial" panose="020B0604020202020204" pitchFamily="34" charset="0"/>
                </a:rPr>
                <a:t>Social</a:t>
              </a:r>
              <a:endParaRPr lang="fr-CA" sz="2200"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8" name="Zone de texte 6">
              <a:extLst>
                <a:ext uri="{FF2B5EF4-FFF2-40B4-BE49-F238E27FC236}">
                  <a16:creationId xmlns:a16="http://schemas.microsoft.com/office/drawing/2014/main" id="{B088A096-3A05-0A84-4997-BCE3EB4EADE2}"/>
                </a:ext>
              </a:extLst>
            </p:cNvPr>
            <p:cNvSpPr txBox="1"/>
            <p:nvPr/>
          </p:nvSpPr>
          <p:spPr>
            <a:xfrm>
              <a:off x="2279436" y="2526653"/>
              <a:ext cx="1429758" cy="35085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fr-CA" sz="2200">
                  <a:solidFill>
                    <a:srgbClr val="FFFFFF"/>
                  </a:solidFill>
                  <a:effectLst/>
                  <a:latin typeface="Segoe UI Semibold" panose="020B0702040204020203" pitchFamily="34" charset="0"/>
                  <a:ea typeface="MS Mincho" panose="02020609040205080304" pitchFamily="49" charset="-128"/>
                  <a:cs typeface="Arial" panose="020B0604020202020204" pitchFamily="34" charset="0"/>
                </a:rPr>
                <a:t>Entreprenant</a:t>
              </a:r>
              <a:endParaRPr lang="fr-CA" sz="2200"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9" name="Zone de texte 7">
              <a:extLst>
                <a:ext uri="{FF2B5EF4-FFF2-40B4-BE49-F238E27FC236}">
                  <a16:creationId xmlns:a16="http://schemas.microsoft.com/office/drawing/2014/main" id="{8112E2CA-3801-6332-AE83-B3A17F4821E0}"/>
                </a:ext>
              </a:extLst>
            </p:cNvPr>
            <p:cNvSpPr txBox="1"/>
            <p:nvPr/>
          </p:nvSpPr>
          <p:spPr>
            <a:xfrm rot="3621423">
              <a:off x="1154394" y="2189202"/>
              <a:ext cx="1575466" cy="35085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fr-CA" sz="2200">
                  <a:solidFill>
                    <a:srgbClr val="FFFFFF"/>
                  </a:solidFill>
                  <a:effectLst/>
                  <a:latin typeface="Segoe UI Semibold" panose="020B0702040204020203" pitchFamily="34" charset="0"/>
                  <a:ea typeface="MS Mincho" panose="02020609040205080304" pitchFamily="49" charset="-128"/>
                  <a:cs typeface="Arial" panose="020B0604020202020204" pitchFamily="34" charset="0"/>
                </a:rPr>
                <a:t>Conventionnel</a:t>
              </a:r>
              <a:endParaRPr lang="fr-CA" sz="2200"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10" name="Zone de texte 2">
              <a:extLst>
                <a:ext uri="{FF2B5EF4-FFF2-40B4-BE49-F238E27FC236}">
                  <a16:creationId xmlns:a16="http://schemas.microsoft.com/office/drawing/2014/main" id="{8511878E-F97F-0DBF-4D38-0C05CE12FD90}"/>
                </a:ext>
              </a:extLst>
            </p:cNvPr>
            <p:cNvSpPr txBox="1"/>
            <p:nvPr/>
          </p:nvSpPr>
          <p:spPr>
            <a:xfrm rot="17973899">
              <a:off x="1467196" y="767136"/>
              <a:ext cx="992634" cy="35085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fr-CA" sz="2200">
                  <a:solidFill>
                    <a:srgbClr val="FFFFFF"/>
                  </a:solidFill>
                  <a:effectLst/>
                  <a:latin typeface="Segoe UI Semibold" panose="020B0702040204020203" pitchFamily="34" charset="0"/>
                  <a:ea typeface="MS Mincho" panose="02020609040205080304" pitchFamily="49" charset="-128"/>
                  <a:cs typeface="Arial" panose="020B0604020202020204" pitchFamily="34" charset="0"/>
                </a:rPr>
                <a:t>Réaliste</a:t>
              </a:r>
              <a:endParaRPr lang="fr-CA" sz="2200"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</p:grpSp>
      <p:sp>
        <p:nvSpPr>
          <p:cNvPr id="11" name="Titre 1">
            <a:extLst>
              <a:ext uri="{FF2B5EF4-FFF2-40B4-BE49-F238E27FC236}">
                <a16:creationId xmlns:a16="http://schemas.microsoft.com/office/drawing/2014/main" id="{E9354036-08AD-600B-40BB-22F268996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28" y="609600"/>
            <a:ext cx="4487091" cy="1356360"/>
          </a:xfrm>
        </p:spPr>
        <p:txBody>
          <a:bodyPr/>
          <a:lstStyle/>
          <a:p>
            <a:pPr algn="r"/>
            <a:r>
              <a:rPr lang="fr-CA" dirty="0"/>
              <a:t>Typologie Holland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43CDFBAB-82FC-DF2D-995C-AD6D72E30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8" y="1689869"/>
            <a:ext cx="5108575" cy="45370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>
              <a:buNone/>
            </a:pPr>
            <a:r>
              <a:rPr lang="fr-CA" sz="1600" dirty="0"/>
              <a:t>Pour J. Holland, la représentation hexagonale est importante, car elle reflète les liens entre les différents types. En effet, cet hexagone est le résultat de l'analyse des relations entre les 6 types.</a:t>
            </a:r>
          </a:p>
          <a:p>
            <a:pPr marL="45720" indent="0">
              <a:buNone/>
            </a:pPr>
            <a:r>
              <a:rPr lang="fr-CA" sz="1600" dirty="0"/>
              <a:t>Deux sommets adjacents ont une liaison positive forte, alors que deux sommets opposés sur l'hexagone ont une liaison dite négative.</a:t>
            </a:r>
          </a:p>
          <a:p>
            <a:pPr marL="45720" indent="0">
              <a:buNone/>
            </a:pPr>
            <a:r>
              <a:rPr lang="fr-CA" sz="1600" b="1" dirty="0"/>
              <a:t>Par exemple :</a:t>
            </a:r>
          </a:p>
          <a:p>
            <a:pPr marL="45720" indent="0">
              <a:buNone/>
            </a:pPr>
            <a:r>
              <a:rPr lang="fr-CA" sz="1600" dirty="0"/>
              <a:t>1. </a:t>
            </a:r>
            <a:r>
              <a:rPr lang="fr-CA" sz="1600" dirty="0">
                <a:solidFill>
                  <a:srgbClr val="D41F26"/>
                </a:solidFill>
              </a:rPr>
              <a:t>Investigateur (I) </a:t>
            </a:r>
            <a:r>
              <a:rPr lang="fr-CA" sz="1600" dirty="0"/>
              <a:t>et </a:t>
            </a:r>
            <a:r>
              <a:rPr lang="fr-CA" sz="1600" dirty="0">
                <a:solidFill>
                  <a:srgbClr val="795BA3"/>
                </a:solidFill>
              </a:rPr>
              <a:t>Artiste (A) </a:t>
            </a:r>
            <a:r>
              <a:rPr lang="fr-CA" sz="1600" dirty="0"/>
              <a:t>sont adjacents, ils ont une liaison positive forte, c’est-à-dire qu’ils partagent des intérêts communs pour la nouveauté, la découverte, l’imagination et la créativité.</a:t>
            </a:r>
          </a:p>
          <a:p>
            <a:pPr marL="45720" indent="0">
              <a:buNone/>
            </a:pPr>
            <a:r>
              <a:rPr lang="fr-CA" sz="1600" dirty="0"/>
              <a:t>2. </a:t>
            </a:r>
            <a:r>
              <a:rPr lang="fr-CA" sz="1600" dirty="0">
                <a:solidFill>
                  <a:srgbClr val="D81F27"/>
                </a:solidFill>
              </a:rPr>
              <a:t>Investigateur (I) </a:t>
            </a:r>
            <a:r>
              <a:rPr lang="fr-CA" sz="1600" dirty="0"/>
              <a:t>et </a:t>
            </a:r>
            <a:r>
              <a:rPr lang="fr-CA" sz="1600" dirty="0">
                <a:solidFill>
                  <a:srgbClr val="66B741"/>
                </a:solidFill>
              </a:rPr>
              <a:t>Entreprenant (E) </a:t>
            </a:r>
            <a:r>
              <a:rPr lang="fr-CA" sz="1600" dirty="0"/>
              <a:t>sont opposés, ils ont une liaison négative forte, c’est-à-dire que l’investigateur a tendance à rejeter les activités que l’entreprenant aime et vice versa.</a:t>
            </a:r>
          </a:p>
          <a:p>
            <a:pPr marL="45720" indent="0">
              <a:buNone/>
            </a:pPr>
            <a:endParaRPr lang="fr-CA" sz="2400" dirty="0">
              <a:solidFill>
                <a:srgbClr val="1CADE4"/>
              </a:solidFill>
              <a:latin typeface="Corbel" panose="020B0503020204020204"/>
              <a:ea typeface="Roboto"/>
              <a:cs typeface="Roboto"/>
            </a:endParaRPr>
          </a:p>
        </p:txBody>
      </p:sp>
      <p:sp>
        <p:nvSpPr>
          <p:cNvPr id="20" name="Flèche : double flèche verticale 19">
            <a:extLst>
              <a:ext uri="{FF2B5EF4-FFF2-40B4-BE49-F238E27FC236}">
                <a16:creationId xmlns:a16="http://schemas.microsoft.com/office/drawing/2014/main" id="{BD3DC7ED-219B-EA7E-2DA0-12F00DE6F24A}"/>
              </a:ext>
            </a:extLst>
          </p:cNvPr>
          <p:cNvSpPr/>
          <p:nvPr/>
        </p:nvSpPr>
        <p:spPr>
          <a:xfrm>
            <a:off x="3094841" y="2913179"/>
            <a:ext cx="589271" cy="928707"/>
          </a:xfrm>
          <a:prstGeom prst="upDownArrow">
            <a:avLst/>
          </a:prstGeom>
          <a:solidFill>
            <a:srgbClr val="F6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1" name="Flèche : double flèche verticale 20">
            <a:extLst>
              <a:ext uri="{FF2B5EF4-FFF2-40B4-BE49-F238E27FC236}">
                <a16:creationId xmlns:a16="http://schemas.microsoft.com/office/drawing/2014/main" id="{6BC682E0-4158-7C6F-5839-79AFFD6D9D3C}"/>
              </a:ext>
            </a:extLst>
          </p:cNvPr>
          <p:cNvSpPr/>
          <p:nvPr/>
        </p:nvSpPr>
        <p:spPr>
          <a:xfrm rot="7424129">
            <a:off x="3860849" y="1434606"/>
            <a:ext cx="680080" cy="1242629"/>
          </a:xfrm>
          <a:prstGeom prst="upDownArrow">
            <a:avLst/>
          </a:prstGeom>
          <a:solidFill>
            <a:srgbClr val="8ED2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18887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5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3765"/>
          </a:xfrm>
        </p:spPr>
        <p:txBody>
          <a:bodyPr anchor="t"/>
          <a:lstStyle/>
          <a:p>
            <a:r>
              <a:rPr lang="fr-CA">
                <a:solidFill>
                  <a:schemeClr val="tx1"/>
                </a:solidFill>
                <a:latin typeface="+mn-lt"/>
              </a:rPr>
              <a:t>Type réaliste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094155"/>
            <a:ext cx="103294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548640" algn="l"/>
              </a:tabLst>
            </a:pPr>
            <a:r>
              <a:rPr lang="fr-CA" sz="2400" b="1">
                <a:ea typeface="Times New Roman" panose="02020603050405020304" pitchFamily="18" charset="0"/>
              </a:rPr>
              <a:t>Intérêt pour …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fabriquer, installer, construire, assembler, manipuler les objets, des outils, des machines ou des appareils;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des disciplines comme la mécanique, l'électronique, l'informatique, l’équipement motorisé, l’architecture, le secteur de la technologie en général;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la recherche appliquée, la conception, l'expérimentation;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les activités où il y a beaucoup d'action;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les activités comportant un certain risque et des sensations fortes;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l'activité physique (surtout les sports d’équipe).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4789496"/>
            <a:ext cx="3928672" cy="156966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fr-CA" sz="2400" b="1">
                <a:ea typeface="Times New Roman" panose="02020603050405020304" pitchFamily="18" charset="0"/>
              </a:rPr>
              <a:t>Traits de personnalité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Énergique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Aventureux, aventureuse 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Joyeux, joyeuse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6872" y="4789496"/>
            <a:ext cx="40023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Actif, active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Courageux, courageuse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Débrouillard, débrouillarde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Inventif, inventive</a:t>
            </a:r>
          </a:p>
        </p:txBody>
      </p:sp>
    </p:spTree>
    <p:extLst>
      <p:ext uri="{BB962C8B-B14F-4D97-AF65-F5344CB8AC3E}">
        <p14:creationId xmlns:p14="http://schemas.microsoft.com/office/powerpoint/2010/main" val="3007326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3765"/>
          </a:xfrm>
        </p:spPr>
        <p:txBody>
          <a:bodyPr anchor="t">
            <a:normAutofit/>
          </a:bodyPr>
          <a:lstStyle/>
          <a:p>
            <a:r>
              <a:rPr lang="fr-CA">
                <a:solidFill>
                  <a:schemeClr val="tx1"/>
                </a:solidFill>
                <a:latin typeface="+mn-lt"/>
              </a:rPr>
              <a:t>Type Investigateur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911" y="1109145"/>
            <a:ext cx="1032947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548640" algn="l"/>
              </a:tabLst>
            </a:pPr>
            <a:r>
              <a:rPr lang="fr-CA" sz="2400" b="1">
                <a:ea typeface="Times New Roman" panose="02020603050405020304" pitchFamily="18" charset="0"/>
              </a:rPr>
              <a:t>Intérêt pour …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 travail intellectuel: se documenter, étudier, rechercher, lire, apprendre, etc.;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les sciences en général et les mathématiques;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 domaine de la santé (en particulier la recherche et l'étude avancée);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 développement de nouveaux champs de connaissances;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certains autres champs d'intérêt: le travail en laboratoire, les sciences appliquées, la 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haute technologie, l'informatique, les sciences de l'environnement.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4596979"/>
            <a:ext cx="4003623" cy="156966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fr-CA" sz="2400" b="1">
                <a:ea typeface="Times New Roman" panose="02020603050405020304" pitchFamily="18" charset="0"/>
              </a:rPr>
              <a:t>Traits de personnalité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Sérieux, sérieuse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Réfléchi, réfléchie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Logique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1823" y="4596979"/>
            <a:ext cx="40023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Intellectuel, intellectuelle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Méthodique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Autonome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Esprit critique</a:t>
            </a:r>
          </a:p>
        </p:txBody>
      </p:sp>
    </p:spTree>
    <p:extLst>
      <p:ext uri="{BB962C8B-B14F-4D97-AF65-F5344CB8AC3E}">
        <p14:creationId xmlns:p14="http://schemas.microsoft.com/office/powerpoint/2010/main" val="828919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5B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3765"/>
          </a:xfrm>
        </p:spPr>
        <p:txBody>
          <a:bodyPr anchor="t">
            <a:normAutofit/>
          </a:bodyPr>
          <a:lstStyle/>
          <a:p>
            <a:r>
              <a:rPr lang="fr-CA">
                <a:solidFill>
                  <a:schemeClr val="tx1"/>
                </a:solidFill>
                <a:latin typeface="+mn-lt"/>
              </a:rPr>
              <a:t>Type Artistique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911" y="1109145"/>
            <a:ext cx="1032947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548640" algn="l"/>
              </a:tabLst>
            </a:pPr>
            <a:r>
              <a:rPr lang="fr-CA" sz="2400" b="1">
                <a:ea typeface="Times New Roman" panose="02020603050405020304" pitchFamily="18" charset="0"/>
              </a:rPr>
              <a:t>Intérêt pour …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les arts en général que ce soit le théâtre, la musique, la peinture, la sculpture, l'écriture, la poésie, la danse, le cinéma, la décoration, le design...;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les activités permettant d'exprimer ses émotions, ses idées, ses visions personnelles du monde;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les sciences humaines, la psychologie, mais surtout dans le but de mieux comprendre la nature humaine et non pas dans le but d'intervenir directement auprès des gens.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4529245"/>
            <a:ext cx="4003623" cy="156966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fr-CA" sz="2400" b="1">
                <a:ea typeface="Times New Roman" panose="02020603050405020304" pitchFamily="18" charset="0"/>
              </a:rPr>
              <a:t>Traits de personnalité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Original, originale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Imaginatif, imaginative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Créatif, créative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1823" y="4529245"/>
            <a:ext cx="40023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Innovateur, innovatrice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Rêveur, rêveuse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Curieux, curieuse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Intuitif, intuitive</a:t>
            </a:r>
          </a:p>
        </p:txBody>
      </p:sp>
    </p:spTree>
    <p:extLst>
      <p:ext uri="{BB962C8B-B14F-4D97-AF65-F5344CB8AC3E}">
        <p14:creationId xmlns:p14="http://schemas.microsoft.com/office/powerpoint/2010/main" val="442325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B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3765"/>
          </a:xfrm>
        </p:spPr>
        <p:txBody>
          <a:bodyPr anchor="t">
            <a:normAutofit/>
          </a:bodyPr>
          <a:lstStyle/>
          <a:p>
            <a:r>
              <a:rPr lang="fr-CA">
                <a:solidFill>
                  <a:schemeClr val="tx1"/>
                </a:solidFill>
                <a:latin typeface="+mn-lt"/>
              </a:rPr>
              <a:t>Type Social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911" y="1109145"/>
            <a:ext cx="103294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548640" algn="l"/>
              </a:tabLst>
            </a:pPr>
            <a:r>
              <a:rPr lang="fr-CA" sz="2400" b="1">
                <a:ea typeface="Times New Roman" panose="02020603050405020304" pitchFamily="18" charset="0"/>
              </a:rPr>
              <a:t>Intérêt pour …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les activités reliées au contact avec d'autres personnes, d'une manière intime, personnelle;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la psychologie, la sociologie et toutes les sciences permettant de comprendre le fonctionnement des humains, pris individuellement ou collectivement;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l’aide aux plus démunis psychologiquement, physiquement, socialement, économiquement, etc.;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toutes activités dans le secteur des services;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divertir, animer, renseigner, éduquer.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4642134"/>
            <a:ext cx="4603230" cy="156966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fr-CA" sz="2400" b="1">
                <a:ea typeface="Times New Roman" panose="02020603050405020304" pitchFamily="18" charset="0"/>
              </a:rPr>
              <a:t>Traits de personnalité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Sociable 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Communicatif, communicative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Compréhensive, compréhensif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1430" y="5011465"/>
            <a:ext cx="40023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Chaleureux, chaleureuse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Serviable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Bienfaisant, bienfaisante</a:t>
            </a:r>
          </a:p>
        </p:txBody>
      </p:sp>
    </p:spTree>
    <p:extLst>
      <p:ext uri="{BB962C8B-B14F-4D97-AF65-F5344CB8AC3E}">
        <p14:creationId xmlns:p14="http://schemas.microsoft.com/office/powerpoint/2010/main" val="4046404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D2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3765"/>
          </a:xfrm>
        </p:spPr>
        <p:txBody>
          <a:bodyPr anchor="t">
            <a:normAutofit/>
          </a:bodyPr>
          <a:lstStyle/>
          <a:p>
            <a:r>
              <a:rPr lang="fr-CA">
                <a:solidFill>
                  <a:schemeClr val="tx1"/>
                </a:solidFill>
                <a:latin typeface="+mn-lt"/>
              </a:rPr>
              <a:t>Type Entrepreneur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911" y="1109145"/>
            <a:ext cx="103294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548640" algn="l"/>
              </a:tabLst>
            </a:pPr>
            <a:r>
              <a:rPr lang="fr-CA" sz="2400" b="1">
                <a:ea typeface="Times New Roman" panose="02020603050405020304" pitchFamily="18" charset="0"/>
              </a:rPr>
              <a:t>Intérêt pour …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les affaires;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la gestion;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les services financiers;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l’économie;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la fiscalité;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la politique;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la comptabilité;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la vente. 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4788890"/>
            <a:ext cx="4603230" cy="156966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fr-CA" sz="2400" b="1">
                <a:ea typeface="Times New Roman" panose="02020603050405020304" pitchFamily="18" charset="0"/>
              </a:rPr>
              <a:t>Traits de personnalité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Convaincant, convaincante 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Ambitieux, ambitieuse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Meneur, meneuse 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1430" y="4788890"/>
            <a:ext cx="40023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Déterminé, déterminée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Compétitif, compétitive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Exigeant, exigeante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Diplomate</a:t>
            </a:r>
          </a:p>
        </p:txBody>
      </p:sp>
    </p:spTree>
    <p:extLst>
      <p:ext uri="{BB962C8B-B14F-4D97-AF65-F5344CB8AC3E}">
        <p14:creationId xmlns:p14="http://schemas.microsoft.com/office/powerpoint/2010/main" val="28349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C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3765"/>
          </a:xfrm>
        </p:spPr>
        <p:txBody>
          <a:bodyPr anchor="t">
            <a:normAutofit/>
          </a:bodyPr>
          <a:lstStyle/>
          <a:p>
            <a:r>
              <a:rPr lang="fr-CA">
                <a:solidFill>
                  <a:schemeClr val="tx1"/>
                </a:solidFill>
                <a:latin typeface="+mn-lt"/>
              </a:rPr>
              <a:t>Type Conventionnel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911" y="1109145"/>
            <a:ext cx="1032947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548640" algn="l"/>
              </a:tabLst>
            </a:pPr>
            <a:r>
              <a:rPr lang="fr-CA" sz="2400" b="1">
                <a:ea typeface="Times New Roman" panose="02020603050405020304" pitchFamily="18" charset="0"/>
              </a:rPr>
              <a:t>Intérêt pour …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les activités d’information;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les services commerciaux;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les services financiers;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 travail de bureau;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 travail sur ordinateurs;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certaines activités dans le secteur des services;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le travail sédentaire.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4517957"/>
            <a:ext cx="4603230" cy="156966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fr-CA" sz="2400" b="1">
                <a:ea typeface="Times New Roman" panose="02020603050405020304" pitchFamily="18" charset="0"/>
              </a:rPr>
              <a:t>Traits de personnalité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Raisonnable 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Discret, discrète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Réservé, réservée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1430" y="4517957"/>
            <a:ext cx="40023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Ordonné, ordonnée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Fiable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Minutieux, minutieuse</a:t>
            </a: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548640" algn="l"/>
              </a:tabLst>
            </a:pPr>
            <a:r>
              <a:rPr lang="fr-CA" sz="2400">
                <a:ea typeface="Times New Roman" panose="02020603050405020304" pitchFamily="18" charset="0"/>
              </a:rPr>
              <a:t>Prudent</a:t>
            </a:r>
          </a:p>
        </p:txBody>
      </p:sp>
    </p:spTree>
    <p:extLst>
      <p:ext uri="{BB962C8B-B14F-4D97-AF65-F5344CB8AC3E}">
        <p14:creationId xmlns:p14="http://schemas.microsoft.com/office/powerpoint/2010/main" val="1217099981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Bas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0D17D98E537F4E9427EF7D53CD531A" ma:contentTypeVersion="13" ma:contentTypeDescription="Crée un document." ma:contentTypeScope="" ma:versionID="95e775c0f23dc584bef897cf3cac0127">
  <xsd:schema xmlns:xsd="http://www.w3.org/2001/XMLSchema" xmlns:xs="http://www.w3.org/2001/XMLSchema" xmlns:p="http://schemas.microsoft.com/office/2006/metadata/properties" xmlns:ns2="615257dd-5c63-4906-959a-e99ea12263b6" xmlns:ns3="55d1b9d6-7d16-4906-bdab-40ef09eda5cb" targetNamespace="http://schemas.microsoft.com/office/2006/metadata/properties" ma:root="true" ma:fieldsID="f21dfc697254c317fe97afcb3be8ac2f" ns2:_="" ns3:_="">
    <xsd:import namespace="615257dd-5c63-4906-959a-e99ea12263b6"/>
    <xsd:import namespace="55d1b9d6-7d16-4906-bdab-40ef09eda5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5257dd-5c63-4906-959a-e99ea12263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91b0bf99-4294-4a90-b621-b034e5770e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d1b9d6-7d16-4906-bdab-40ef09eda5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c44ee18-befb-46ac-b372-6933ef7e311b}" ma:internalName="TaxCatchAll" ma:showField="CatchAllData" ma:web="55d1b9d6-7d16-4906-bdab-40ef09eda5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d1b9d6-7d16-4906-bdab-40ef09eda5cb" xsi:nil="true"/>
    <lcf76f155ced4ddcb4097134ff3c332f xmlns="615257dd-5c63-4906-959a-e99ea12263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ED0E969-03DC-496A-9F67-E9861E09BC99}"/>
</file>

<file path=customXml/itemProps2.xml><?xml version="1.0" encoding="utf-8"?>
<ds:datastoreItem xmlns:ds="http://schemas.openxmlformats.org/officeDocument/2006/customXml" ds:itemID="{5AB2C38D-C894-48D2-A96E-19F9FDFECE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FBFBE2-0097-4F63-9A71-2F0D8129BD25}">
  <ds:schemaRefs>
    <ds:schemaRef ds:uri="http://schemas.microsoft.com/office/infopath/2007/PartnerControls"/>
    <ds:schemaRef ds:uri="http://purl.org/dc/dcmitype/"/>
    <ds:schemaRef ds:uri="5d7cae21-21f0-403e-bb18-c2c81173a10c"/>
    <ds:schemaRef ds:uri="dcfa764e-74e9-4b5b-89b1-df2473755663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www.w3.org/XML/1998/namespace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84fd72d2-863b-4358-94e1-5fb16c5f1682}" enabled="1" method="Standard" siteId="{5c5d95e5-3d31-489a-9cf0-160067e48a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Base</Template>
  <TotalTime>1</TotalTime>
  <Words>2014</Words>
  <Application>Microsoft Office PowerPoint</Application>
  <PresentationFormat>Grand écran</PresentationFormat>
  <Paragraphs>243</Paragraphs>
  <Slides>9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7" baseType="lpstr">
      <vt:lpstr>Calibri</vt:lpstr>
      <vt:lpstr>Corbel</vt:lpstr>
      <vt:lpstr>Segoe UI Semibold</vt:lpstr>
      <vt:lpstr>Symbol</vt:lpstr>
      <vt:lpstr>Times</vt:lpstr>
      <vt:lpstr>Times New Roman</vt:lpstr>
      <vt:lpstr>Wingdings</vt:lpstr>
      <vt:lpstr>Base</vt:lpstr>
      <vt:lpstr>RIASEC</vt:lpstr>
      <vt:lpstr>Typologie Holland</vt:lpstr>
      <vt:lpstr>Typologie Holland</vt:lpstr>
      <vt:lpstr>Type réaliste</vt:lpstr>
      <vt:lpstr>Type Investigateur</vt:lpstr>
      <vt:lpstr>Type Artistique</vt:lpstr>
      <vt:lpstr>Type Social</vt:lpstr>
      <vt:lpstr>Type Entrepreneur</vt:lpstr>
      <vt:lpstr>Type Conventionnel</vt:lpstr>
    </vt:vector>
  </TitlesOfParts>
  <Company>CSPI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RIASEC</dc:title>
  <dc:creator>Vincent Turcotte</dc:creator>
  <cp:lastModifiedBy>Alexanne Provencher</cp:lastModifiedBy>
  <cp:revision>1</cp:revision>
  <dcterms:created xsi:type="dcterms:W3CDTF">2017-12-03T19:48:25Z</dcterms:created>
  <dcterms:modified xsi:type="dcterms:W3CDTF">2025-08-21T17:55:24Z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0x010100170D17D98E537F4E9427EF7D53CD531A</vt:lpwstr>
  </property>
  <property fmtid="{D5CDD505-2E9C-101B-9397-08002B2CF9AE}" pid="3" name="Order">
    <vt:r8>110600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MediaServiceImageTags">
    <vt:lpwstr/>
  </property>
  <property fmtid="{D5CDD505-2E9C-101B-9397-08002B2CF9AE}" pid="11" name="_SourceUrl">
    <vt:lpwstr/>
  </property>
  <property fmtid="{D5CDD505-2E9C-101B-9397-08002B2CF9AE}" pid="12" name="_SharedFileIndex">
    <vt:lpwstr/>
  </property>
</Properties>
</file>